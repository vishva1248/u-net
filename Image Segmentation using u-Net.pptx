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40"/>
  </p:notesMasterIdLst>
  <p:sldIdLst>
    <p:sldId id="256" r:id="rId2"/>
    <p:sldId id="257" r:id="rId3"/>
    <p:sldId id="259" r:id="rId4"/>
    <p:sldId id="282" r:id="rId5"/>
    <p:sldId id="260" r:id="rId6"/>
    <p:sldId id="283" r:id="rId7"/>
    <p:sldId id="258" r:id="rId8"/>
    <p:sldId id="261" r:id="rId9"/>
    <p:sldId id="262" r:id="rId10"/>
    <p:sldId id="263" r:id="rId11"/>
    <p:sldId id="264" r:id="rId12"/>
    <p:sldId id="265" r:id="rId13"/>
    <p:sldId id="266" r:id="rId14"/>
    <p:sldId id="267" r:id="rId15"/>
    <p:sldId id="268" r:id="rId16"/>
    <p:sldId id="269" r:id="rId17"/>
    <p:sldId id="270" r:id="rId18"/>
    <p:sldId id="271" r:id="rId19"/>
    <p:sldId id="272" r:id="rId20"/>
    <p:sldId id="273" r:id="rId21"/>
    <p:sldId id="274" r:id="rId22"/>
    <p:sldId id="275" r:id="rId23"/>
    <p:sldId id="276" r:id="rId24"/>
    <p:sldId id="285" r:id="rId25"/>
    <p:sldId id="277" r:id="rId26"/>
    <p:sldId id="284" r:id="rId27"/>
    <p:sldId id="278" r:id="rId28"/>
    <p:sldId id="280" r:id="rId29"/>
    <p:sldId id="279" r:id="rId30"/>
    <p:sldId id="281" r:id="rId31"/>
    <p:sldId id="288" r:id="rId32"/>
    <p:sldId id="286" r:id="rId33"/>
    <p:sldId id="287" r:id="rId34"/>
    <p:sldId id="289" r:id="rId35"/>
    <p:sldId id="290" r:id="rId36"/>
    <p:sldId id="291" r:id="rId37"/>
    <p:sldId id="292" r:id="rId38"/>
    <p:sldId id="293" r:id="rId39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4660"/>
  </p:normalViewPr>
  <p:slideViewPr>
    <p:cSldViewPr snapToGrid="0">
      <p:cViewPr varScale="1">
        <p:scale>
          <a:sx n="78" d="100"/>
          <a:sy n="78" d="100"/>
        </p:scale>
        <p:origin x="878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viewProps" Target="viewProp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theme" Target="theme/theme1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BDCAF38-BCD9-4A01-ADA1-0EEFC5548331}" type="datetimeFigureOut">
              <a:rPr lang="en-IN" smtClean="0"/>
              <a:t>26-08-2026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F7CDEF6-32FA-4364-AA0B-3A763506A5D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70720426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F7CDEF6-32FA-4364-AA0B-3A763506A5D5}" type="slidenum">
              <a:rPr lang="en-IN" smtClean="0"/>
              <a:t>22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2934761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6640AAD-80AF-40E7-BE3F-43D32FC68ED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l">
              <a:defRPr sz="6000" b="1" i="0" cap="all" baseline="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C80FBD9-0977-4B2B-9318-30774BB0947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l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CE66DA5-7751-4D3D-B753-58DF3B41876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4B53A7-3209-46A6-9454-F38EAC8F11E7}" type="datetimeFigureOut">
              <a:rPr lang="en-US" smtClean="0"/>
              <a:t>8/25/2026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F8C2A2A-62DB-40C0-8AE7-CB9B98649BB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401EAA4-F44C-4C1F-B8E3-1A3005300F5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CE633F-9882-4A5C-83A2-1109D0C73261}" type="slidenum">
              <a:rPr lang="en-US" smtClean="0"/>
              <a:t>‹#›</a:t>
            </a:fld>
            <a:endParaRPr lang="en-US"/>
          </a:p>
        </p:txBody>
      </p: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D1B787A8-0D67-4B7E-9B48-86BD906AB6B5}"/>
              </a:ext>
            </a:extLst>
          </p:cNvPr>
          <p:cNvCxnSpPr>
            <a:cxnSpLocks/>
          </p:cNvCxnSpPr>
          <p:nvPr/>
        </p:nvCxnSpPr>
        <p:spPr>
          <a:xfrm>
            <a:off x="715890" y="1114050"/>
            <a:ext cx="0" cy="5735637"/>
          </a:xfrm>
          <a:prstGeom prst="line">
            <a:avLst/>
          </a:prstGeom>
          <a:ln w="25400" cap="sq">
            <a:gradFill flip="none" rotWithShape="1">
              <a:gsLst>
                <a:gs pos="0">
                  <a:schemeClr val="accent2"/>
                </a:gs>
                <a:gs pos="100000">
                  <a:schemeClr val="accent4"/>
                </a:gs>
              </a:gsLst>
              <a:lin ang="16200000" scaled="1"/>
              <a:tileRect/>
            </a:gradFill>
            <a:bevel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52913537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696CF8C-1EA0-4E47-AC60-CAC3B80A3C5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28CABF8-19D8-4F3C-994F-4D35EC7A2C3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097BB2D-4E2C-4490-A2A3-4B68BCC5D2F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4B53A7-3209-46A6-9454-F38EAC8F11E7}" type="datetimeFigureOut">
              <a:rPr lang="en-US" smtClean="0"/>
              <a:t>8/25/2026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140F15D-DD72-46D5-BF0F-F5064710700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266FD4D-815A-431C-ADEF-DE6F236F617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CE633F-9882-4A5C-83A2-1109D0C73261}" type="slidenum">
              <a:rPr lang="en-US" smtClean="0"/>
              <a:t>‹#›</a:t>
            </a:fld>
            <a:endParaRPr lang="en-US"/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5C05CAAB-DBA2-4548-AD5F-01BB97FBB207}"/>
              </a:ext>
            </a:extLst>
          </p:cNvPr>
          <p:cNvCxnSpPr>
            <a:cxnSpLocks/>
          </p:cNvCxnSpPr>
          <p:nvPr/>
        </p:nvCxnSpPr>
        <p:spPr>
          <a:xfrm>
            <a:off x="715890" y="356812"/>
            <a:ext cx="0" cy="6492875"/>
          </a:xfrm>
          <a:prstGeom prst="line">
            <a:avLst/>
          </a:prstGeom>
          <a:ln w="25400" cap="sq">
            <a:gradFill flip="none" rotWithShape="1">
              <a:gsLst>
                <a:gs pos="0">
                  <a:schemeClr val="accent2"/>
                </a:gs>
                <a:gs pos="100000">
                  <a:schemeClr val="accent4"/>
                </a:gs>
              </a:gsLst>
              <a:lin ang="16200000" scaled="1"/>
              <a:tileRect/>
            </a:gradFill>
            <a:bevel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71636506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45FC2D1-D3FE-4B37-8740-57444421FDB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 b="1" i="0" cap="all" baseline="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A5AF550-086C-426E-A374-85DB3957017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9A58988-AD39-4AE9-8E6A-0907F0BE267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4B53A7-3209-46A6-9454-F38EAC8F11E7}" type="datetimeFigureOut">
              <a:rPr lang="en-US" smtClean="0"/>
              <a:t>8/25/2026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D366319-82EE-408E-819F-8F8E6DBA7A5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F21C8A6-777F-496D-8620-AE52BFC33FC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CE633F-9882-4A5C-83A2-1109D0C73261}" type="slidenum">
              <a:rPr lang="en-US" smtClean="0"/>
              <a:t>‹#›</a:t>
            </a:fld>
            <a:endParaRPr lang="en-US"/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C031F83B-57A8-4533-981C-D1FFAD2B6B6F}"/>
              </a:ext>
            </a:extLst>
          </p:cNvPr>
          <p:cNvCxnSpPr>
            <a:cxnSpLocks/>
          </p:cNvCxnSpPr>
          <p:nvPr/>
        </p:nvCxnSpPr>
        <p:spPr>
          <a:xfrm>
            <a:off x="715890" y="1701425"/>
            <a:ext cx="0" cy="5148262"/>
          </a:xfrm>
          <a:prstGeom prst="line">
            <a:avLst/>
          </a:prstGeom>
          <a:ln w="25400" cap="sq">
            <a:gradFill flip="none" rotWithShape="1">
              <a:gsLst>
                <a:gs pos="0">
                  <a:schemeClr val="accent2"/>
                </a:gs>
                <a:gs pos="100000">
                  <a:schemeClr val="accent4"/>
                </a:gs>
              </a:gsLst>
              <a:lin ang="16200000" scaled="1"/>
              <a:tileRect/>
            </a:gradFill>
            <a:bevel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19856632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9257166-6921-4546-BA2C-99E464681F4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95B9122-6371-4049-B57A-33DED7DA2F7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A14555D-0753-4312-A26B-2338813F9BB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3D8FDCB-69DA-4A8F-8B91-5CFF77897C2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4B53A7-3209-46A6-9454-F38EAC8F11E7}" type="datetimeFigureOut">
              <a:rPr lang="en-US" smtClean="0"/>
              <a:t>8/25/2026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1AC8C07-E0D3-4464-AE3C-25730D75C8E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C2596A6-734E-4AE0-BFB8-3089137BF8E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CE633F-9882-4A5C-83A2-1109D0C73261}" type="slidenum">
              <a:rPr lang="en-US" smtClean="0"/>
              <a:t>‹#›</a:t>
            </a:fld>
            <a:endParaRPr lang="en-US"/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3FB7E8F4-3FB3-45AB-A381-9093CA95AAEE}"/>
              </a:ext>
            </a:extLst>
          </p:cNvPr>
          <p:cNvCxnSpPr>
            <a:cxnSpLocks/>
          </p:cNvCxnSpPr>
          <p:nvPr/>
        </p:nvCxnSpPr>
        <p:spPr>
          <a:xfrm>
            <a:off x="715890" y="356812"/>
            <a:ext cx="0" cy="6492875"/>
          </a:xfrm>
          <a:prstGeom prst="line">
            <a:avLst/>
          </a:prstGeom>
          <a:ln w="25400" cap="sq">
            <a:gradFill flip="none" rotWithShape="1">
              <a:gsLst>
                <a:gs pos="0">
                  <a:schemeClr val="accent2"/>
                </a:gs>
                <a:gs pos="100000">
                  <a:schemeClr val="accent4"/>
                </a:gs>
              </a:gsLst>
              <a:lin ang="16200000" scaled="1"/>
              <a:tileRect/>
            </a:gradFill>
            <a:bevel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45747637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5F057AE-3B3B-4261-B912-BF9EB9A58C3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2A2D237-A706-4712-90CA-B04517CBBE0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DE39CA1-2B6D-427E-9688-9093D5865CB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F3D53357-616B-47F4-944B-F979FE96635D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BD7EA593-3036-4FB5-94B4-D9431DF04871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E86B3EF2-2C04-480F-A570-14E520DD00D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4B53A7-3209-46A6-9454-F38EAC8F11E7}" type="datetimeFigureOut">
              <a:rPr lang="en-US" smtClean="0"/>
              <a:t>8/25/2026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1CF5783E-3073-4F4D-8B9C-C5B18DDA5A3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F1A75FE3-6719-4790-AA00-251BC2A6E5A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CE633F-9882-4A5C-83A2-1109D0C73261}" type="slidenum">
              <a:rPr lang="en-US" smtClean="0"/>
              <a:t>‹#›</a:t>
            </a:fld>
            <a:endParaRPr lang="en-US"/>
          </a:p>
        </p:txBody>
      </p: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160F34ED-DA60-4CC2-B735-B0EC5D9FEA35}"/>
              </a:ext>
            </a:extLst>
          </p:cNvPr>
          <p:cNvCxnSpPr>
            <a:cxnSpLocks/>
          </p:cNvCxnSpPr>
          <p:nvPr/>
        </p:nvCxnSpPr>
        <p:spPr>
          <a:xfrm>
            <a:off x="715890" y="356812"/>
            <a:ext cx="0" cy="6492875"/>
          </a:xfrm>
          <a:prstGeom prst="line">
            <a:avLst/>
          </a:prstGeom>
          <a:ln w="25400" cap="sq">
            <a:gradFill flip="none" rotWithShape="1">
              <a:gsLst>
                <a:gs pos="0">
                  <a:schemeClr val="accent2"/>
                </a:gs>
                <a:gs pos="100000">
                  <a:schemeClr val="accent4"/>
                </a:gs>
              </a:gsLst>
              <a:lin ang="16200000" scaled="1"/>
              <a:tileRect/>
            </a:gradFill>
            <a:bevel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68275816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969F227-D21C-48B3-828A-6BFA9585E82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8DF1DFFF-E5C5-43DF-B71C-7270DB97372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4B53A7-3209-46A6-9454-F38EAC8F11E7}" type="datetimeFigureOut">
              <a:rPr lang="en-US" smtClean="0"/>
              <a:t>8/25/2026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7EBC03C0-6EB7-4633-967C-12C35768BB5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0FF4306-91CD-4B7B-8A53-34BE8F99758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CE633F-9882-4A5C-83A2-1109D0C73261}" type="slidenum">
              <a:rPr lang="en-US" smtClean="0"/>
              <a:t>‹#›</a:t>
            </a:fld>
            <a:endParaRPr lang="en-US"/>
          </a:p>
        </p:txBody>
      </p: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57596AF9-469C-436D-B7D2-77952EF1825E}"/>
              </a:ext>
            </a:extLst>
          </p:cNvPr>
          <p:cNvCxnSpPr>
            <a:cxnSpLocks/>
          </p:cNvCxnSpPr>
          <p:nvPr/>
        </p:nvCxnSpPr>
        <p:spPr>
          <a:xfrm>
            <a:off x="715890" y="356812"/>
            <a:ext cx="0" cy="6492875"/>
          </a:xfrm>
          <a:prstGeom prst="line">
            <a:avLst/>
          </a:prstGeom>
          <a:ln w="25400" cap="sq">
            <a:gradFill flip="none" rotWithShape="1">
              <a:gsLst>
                <a:gs pos="0">
                  <a:schemeClr val="accent2"/>
                </a:gs>
                <a:gs pos="100000">
                  <a:schemeClr val="accent4"/>
                </a:gs>
              </a:gsLst>
              <a:lin ang="16200000" scaled="1"/>
              <a:tileRect/>
            </a:gradFill>
            <a:bevel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90748170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FDFF36D6-399B-43E3-84DD-9FC5119ECCE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4B53A7-3209-46A6-9454-F38EAC8F11E7}" type="datetimeFigureOut">
              <a:rPr lang="en-US" smtClean="0"/>
              <a:t>8/25/2026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50234AB7-3B85-4028-A500-5A1BDBF45C5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C1F40F0-9909-442F-BBA4-409D061ED02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CE633F-9882-4A5C-83A2-1109D0C73261}" type="slidenum">
              <a:rPr lang="en-US" smtClean="0"/>
              <a:t>‹#›</a:t>
            </a:fld>
            <a:endParaRPr lang="en-US"/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353C1207-D1C8-49E3-8837-E2B89D366FAE}"/>
              </a:ext>
            </a:extLst>
          </p:cNvPr>
          <p:cNvCxnSpPr>
            <a:cxnSpLocks/>
          </p:cNvCxnSpPr>
          <p:nvPr/>
        </p:nvCxnSpPr>
        <p:spPr>
          <a:xfrm>
            <a:off x="715890" y="356812"/>
            <a:ext cx="0" cy="6492875"/>
          </a:xfrm>
          <a:prstGeom prst="line">
            <a:avLst/>
          </a:prstGeom>
          <a:ln w="25400" cap="sq">
            <a:gradFill flip="none" rotWithShape="1">
              <a:gsLst>
                <a:gs pos="0">
                  <a:schemeClr val="accent2"/>
                </a:gs>
                <a:gs pos="100000">
                  <a:schemeClr val="accent4"/>
                </a:gs>
              </a:gsLst>
              <a:lin ang="16200000" scaled="1"/>
              <a:tileRect/>
            </a:gradFill>
            <a:bevel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52276907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540F214-646F-4D81-AD12-65628EC987D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EF71768-C3FA-49EF-99EF-06E6C3B2846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2DA6F24-ED6C-4D12-A9D6-EE37FBD6869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8E6AACE-FAFB-4934-8E3C-AB5B216353D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4B53A7-3209-46A6-9454-F38EAC8F11E7}" type="datetimeFigureOut">
              <a:rPr lang="en-US" smtClean="0"/>
              <a:t>8/25/2026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81533EA-D0F8-4C79-8721-F190DE2D2DC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059BAC9-F101-4394-BBA4-3D21A349712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CE633F-9882-4A5C-83A2-1109D0C73261}" type="slidenum">
              <a:rPr lang="en-US" smtClean="0"/>
              <a:t>‹#›</a:t>
            </a:fld>
            <a:endParaRPr lang="en-US"/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0F3A79C9-7EDC-44F6-AC48-5DD98A7695AD}"/>
              </a:ext>
            </a:extLst>
          </p:cNvPr>
          <p:cNvCxnSpPr>
            <a:cxnSpLocks/>
          </p:cNvCxnSpPr>
          <p:nvPr/>
        </p:nvCxnSpPr>
        <p:spPr>
          <a:xfrm>
            <a:off x="715890" y="356812"/>
            <a:ext cx="0" cy="6492875"/>
          </a:xfrm>
          <a:prstGeom prst="line">
            <a:avLst/>
          </a:prstGeom>
          <a:ln w="25400" cap="sq">
            <a:gradFill flip="none" rotWithShape="1">
              <a:gsLst>
                <a:gs pos="0">
                  <a:schemeClr val="accent2"/>
                </a:gs>
                <a:gs pos="100000">
                  <a:schemeClr val="accent4"/>
                </a:gs>
              </a:gsLst>
              <a:lin ang="16200000" scaled="1"/>
              <a:tileRect/>
            </a:gradFill>
            <a:bevel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42395217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84CB71F-B6C2-4866-BC97-304F78816E4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C55ED73B-8413-478D-80D7-B78B69763B69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1BDF226-1B94-4D2D-98B3-7B932FB17DA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00C4E9A-CA29-4CCD-ACFA-B29F80FBA16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4B53A7-3209-46A6-9454-F38EAC8F11E7}" type="datetimeFigureOut">
              <a:rPr lang="en-US" smtClean="0"/>
              <a:t>8/25/2026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1A5B7BE-3F1B-4FF3-B1D7-6E39B99D07B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42F18F1-E27E-470E-AE13-4755DEE63A3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CE633F-9882-4A5C-83A2-1109D0C73261}" type="slidenum">
              <a:rPr lang="en-US" smtClean="0"/>
              <a:t>‹#›</a:t>
            </a:fld>
            <a:endParaRPr lang="en-US"/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00F08750-B7F2-4119-B151-68DE77481335}"/>
              </a:ext>
            </a:extLst>
          </p:cNvPr>
          <p:cNvCxnSpPr>
            <a:cxnSpLocks/>
          </p:cNvCxnSpPr>
          <p:nvPr/>
        </p:nvCxnSpPr>
        <p:spPr>
          <a:xfrm>
            <a:off x="715890" y="356812"/>
            <a:ext cx="0" cy="6492875"/>
          </a:xfrm>
          <a:prstGeom prst="line">
            <a:avLst/>
          </a:prstGeom>
          <a:ln w="25400" cap="sq">
            <a:gradFill flip="none" rotWithShape="1">
              <a:gsLst>
                <a:gs pos="0">
                  <a:schemeClr val="accent2"/>
                </a:gs>
                <a:gs pos="100000">
                  <a:schemeClr val="accent4"/>
                </a:gs>
              </a:gsLst>
              <a:lin ang="16200000" scaled="1"/>
              <a:tileRect/>
            </a:gradFill>
            <a:bevel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77336835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26AD429-654B-4F0E-94E9-6FEF8EC67EF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768D60B2-06F5-4567-BE1F-BBA5270537B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216F6F2-8269-4B80-8EE3-81FEE0F9DFA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4B53A7-3209-46A6-9454-F38EAC8F11E7}" type="datetimeFigureOut">
              <a:rPr lang="en-US" smtClean="0"/>
              <a:t>8/25/2026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6BC86E4-3EDE-4EB4-B1A3-A1198AADD17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41752B0-ACEC-49EF-8131-FCF35BC5CD3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CE633F-9882-4A5C-83A2-1109D0C73261}" type="slidenum">
              <a:rPr lang="en-US" smtClean="0"/>
              <a:t>‹#›</a:t>
            </a:fld>
            <a:endParaRPr lang="en-US"/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1A0462E3-375D-4E76-8886-69E06985D069}"/>
              </a:ext>
            </a:extLst>
          </p:cNvPr>
          <p:cNvCxnSpPr>
            <a:cxnSpLocks/>
          </p:cNvCxnSpPr>
          <p:nvPr/>
        </p:nvCxnSpPr>
        <p:spPr>
          <a:xfrm>
            <a:off x="715890" y="356812"/>
            <a:ext cx="0" cy="6492875"/>
          </a:xfrm>
          <a:prstGeom prst="line">
            <a:avLst/>
          </a:prstGeom>
          <a:ln w="25400" cap="sq">
            <a:gradFill flip="none" rotWithShape="1">
              <a:gsLst>
                <a:gs pos="0">
                  <a:schemeClr val="accent2"/>
                </a:gs>
                <a:gs pos="100000">
                  <a:schemeClr val="accent4"/>
                </a:gs>
              </a:gsLst>
              <a:lin ang="16200000" scaled="1"/>
              <a:tileRect/>
            </a:gradFill>
            <a:bevel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35202678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0423B094-F480-477B-901C-7181F88C076D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1D052089-A920-4E52-98DC-8A5DC7B0ACC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4A074FE-F1B4-421F-A66E-FA351C8F99E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4B53A7-3209-46A6-9454-F38EAC8F11E7}" type="datetimeFigureOut">
              <a:rPr lang="en-US" smtClean="0"/>
              <a:t>8/25/2026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4D764BA-3AB2-45FD-ABCB-975B3FDDF27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6FB3FEF-8252-49FD-82F2-3E5FABC65F9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CE633F-9882-4A5C-83A2-1109D0C73261}" type="slidenum">
              <a:rPr lang="en-US" smtClean="0"/>
              <a:t>‹#›</a:t>
            </a:fld>
            <a:endParaRPr lang="en-US"/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0AEB5C65-83BB-4EBD-AD22-EDA8489D0F5D}"/>
              </a:ext>
            </a:extLst>
          </p:cNvPr>
          <p:cNvCxnSpPr>
            <a:cxnSpLocks/>
          </p:cNvCxnSpPr>
          <p:nvPr/>
        </p:nvCxnSpPr>
        <p:spPr>
          <a:xfrm flipV="1">
            <a:off x="8313" y="261865"/>
            <a:ext cx="11353802" cy="1"/>
          </a:xfrm>
          <a:prstGeom prst="line">
            <a:avLst/>
          </a:prstGeom>
          <a:ln w="25400" cap="sq">
            <a:gradFill flip="none" rotWithShape="1">
              <a:gsLst>
                <a:gs pos="0">
                  <a:schemeClr val="accent2"/>
                </a:gs>
                <a:gs pos="100000">
                  <a:schemeClr val="accent4"/>
                </a:gs>
              </a:gsLst>
              <a:lin ang="0" scaled="1"/>
              <a:tileRect/>
            </a:gradFill>
            <a:bevel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06990490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0FDA4224-F4E4-47A4-ACF7-2317493908A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1679907-DC49-4B86-A34C-C97DBC26A93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5DBC8A0-34FC-4B6E-B42B-A721267D890E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 b="1" i="0" cap="all" spc="1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A4B53A7-3209-46A6-9454-F38EAC8F11E7}" type="datetimeFigureOut">
              <a:rPr lang="en-US" smtClean="0"/>
              <a:pPr/>
              <a:t>8/25/2026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09AC0B6-4CC4-4E41-8A4D-F62E17F2857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 b="1" i="0" cap="all" spc="1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6C0E9BD-90BD-46AE-8A0D-06796ADB760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 b="1" i="0" cap="all" spc="1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7CE633F-9882-4A5C-83A2-1109D0C73261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794781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C8CCFB2-11CD-7007-DC02-25800E49AB43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rmAutofit fontScale="90000"/>
          </a:bodyPr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Image Segmentation using u-Net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6639474D-048E-8894-759F-745780E8962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4011560"/>
            <a:ext cx="9144000" cy="2153266"/>
          </a:xfrm>
        </p:spPr>
        <p:txBody>
          <a:bodyPr>
            <a:normAutofit/>
          </a:bodyPr>
          <a:lstStyle/>
          <a:p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Dataset: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Indian Pines Hyperspectral Dataset</a:t>
            </a:r>
          </a:p>
          <a:p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Presented by:</a:t>
            </a:r>
            <a:b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Vishva D Patel IU2441231791</a:t>
            </a:r>
          </a:p>
          <a:p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Jenish Joshi IU2441231784</a:t>
            </a:r>
          </a:p>
        </p:txBody>
      </p:sp>
    </p:spTree>
    <p:extLst>
      <p:ext uri="{BB962C8B-B14F-4D97-AF65-F5344CB8AC3E}">
        <p14:creationId xmlns:p14="http://schemas.microsoft.com/office/powerpoint/2010/main" val="134263533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AE7C21E-9232-83CE-0D88-F08AE113679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INTRODUCTION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AC34709-27C9-57D0-B30D-E6BC0A8A9C1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Image segmentation is a computer vision task in which an image is divided into meaningful regions by assigning a class label to each pixel.</a:t>
            </a:r>
          </a:p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Unlike image classification, which assigns one label to an entire image, segmentation provides pixel-level predictions.</a:t>
            </a:r>
          </a:p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Applications:- Remote sensing , Medical image analysis , Autonomous vehicles , Agriculture , Land-cover mapping , Object recognition ,  Satellite image analysis</a:t>
            </a:r>
          </a:p>
          <a:p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38926466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9E49B3A-E48F-53B1-4134-9213C27A58C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INDIAN PINES HYPERSPECTRAL DATASET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41419F7-7124-90DB-17FF-D7800AA9C71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Indian Pines dataset is a hyperspectral image dataset used to study and classify different regions or materials present in an image.</a:t>
            </a:r>
          </a:p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Unlike a normal RGB image, which has only 3 </a:t>
            </a:r>
            <a:r>
              <a:rPr lang="en-IN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color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channels, a hyperspectral image contains information from many spectral bands.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23199308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1269777-9FCC-7B22-A27D-9055CE0FD83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INDIAN PINES HYPERSPECTRAL DATASET</a:t>
            </a:r>
            <a:endParaRPr lang="en-IN" dirty="0"/>
          </a:p>
        </p:txBody>
      </p:sp>
      <p:pic>
        <p:nvPicPr>
          <p:cNvPr id="9" name="Content Placeholder 8">
            <a:extLst>
              <a:ext uri="{FF2B5EF4-FFF2-40B4-BE49-F238E27FC236}">
                <a16:creationId xmlns:a16="http://schemas.microsoft.com/office/drawing/2014/main" id="{AA6522DA-43EA-8A31-D2B7-44597B119426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26576" y="1825625"/>
            <a:ext cx="7738848" cy="43513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6339080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17C9B03-B7E1-2827-AC64-674BBF46F03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OUR DATASET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BF6200C-841C-B970-D1F5-779655CC966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image used in this project has:</a:t>
            </a:r>
          </a:p>
          <a:p>
            <a:pPr marL="0" indent="0">
              <a:buNone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	Image size: 145 × 145 × 200</a:t>
            </a:r>
          </a:p>
          <a:p>
            <a:pPr marL="457200" lvl="1" indent="0">
              <a:buNone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	145 × 145 → height and width of the image </a:t>
            </a:r>
          </a:p>
          <a:p>
            <a:pPr marL="457200" lvl="1" indent="0">
              <a:buNone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	200 → number of spectral bands </a:t>
            </a:r>
          </a:p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dataset also contains a ground-truth mask of size:145 × 145</a:t>
            </a:r>
          </a:p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This mask tells us the correct class of each pixel and is used as the reference while training the model.</a:t>
            </a:r>
          </a:p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segmentation model is designed to identify 17 different classes in the image.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10351929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36CBBA5-DC71-01CC-2AAC-2D9426546D0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OUR DATASET</a:t>
            </a:r>
            <a:endParaRPr lang="en-IN" dirty="0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0F2DF619-7933-0562-8BEA-503DA4344344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8200" y="2900362"/>
            <a:ext cx="10515600" cy="220186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3229064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76F1EA4-FEAB-D4E8-397C-ACE69B39BB3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PROBLEM STATEMENT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FCBF4B5-C91D-638E-E653-6359E7513FA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A hyperspectral image contains a large amount of information for every pixel. The challenge is to automatically determine what class each pixel belongs to.</a:t>
            </a:r>
          </a:p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Manually identifying every pixel in a large image is:</a:t>
            </a:r>
          </a:p>
          <a:p>
            <a:pPr lvl="1">
              <a:buFont typeface="Courier New" panose="02070309020205020404" pitchFamily="49" charset="0"/>
              <a:buChar char="o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Time-consuming </a:t>
            </a:r>
          </a:p>
          <a:p>
            <a:pPr lvl="1">
              <a:buFont typeface="Courier New" panose="02070309020205020404" pitchFamily="49" charset="0"/>
              <a:buChar char="o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Difficult to perform consistently </a:t>
            </a:r>
          </a:p>
          <a:p>
            <a:pPr lvl="1">
              <a:buFont typeface="Courier New" panose="02070309020205020404" pitchFamily="49" charset="0"/>
              <a:buChar char="o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Dependent on human expertise </a:t>
            </a:r>
          </a:p>
          <a:p>
            <a:pPr lvl="1">
              <a:buFont typeface="Courier New" panose="02070309020205020404" pitchFamily="49" charset="0"/>
              <a:buChar char="o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Not practical for large amounts of image data</a:t>
            </a:r>
          </a:p>
          <a:p>
            <a:pPr>
              <a:lnSpc>
                <a:spcPct val="100000"/>
              </a:lnSpc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goal of this project is to develop a deep-learning model that can automatically classify every pixel of the Indian Pines image into one of the 17 classes.</a:t>
            </a:r>
          </a:p>
        </p:txBody>
      </p:sp>
    </p:spTree>
    <p:extLst>
      <p:ext uri="{BB962C8B-B14F-4D97-AF65-F5344CB8AC3E}">
        <p14:creationId xmlns:p14="http://schemas.microsoft.com/office/powerpoint/2010/main" val="7433389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8F69132-B71A-3FC9-8C54-E080FADC7D5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UNDERSTANDING IMAGE SEGMENTATION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AF19D41-9ED0-B13E-C3C8-38CB651CF1A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2022270"/>
            <a:ext cx="10515600" cy="4351338"/>
          </a:xfrm>
        </p:spPr>
        <p:txBody>
          <a:bodyPr/>
          <a:lstStyle/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Image segmentation means dividing an image into meaningful regions and assigning a class to each pixel.</a:t>
            </a:r>
          </a:p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For our project, the model looks at the image and determines which of the 17 classes each pixel belongs to.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50493693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3251DA4-1516-ECCD-342A-CAEA99BBC6E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WHY DO WE NEED DEEP LEARNING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87F52C1-84DD-0AEC-E8C1-31829B9F0B0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860310"/>
          </a:xfrm>
        </p:spPr>
        <p:txBody>
          <a:bodyPr>
            <a:normAutofit/>
          </a:bodyPr>
          <a:lstStyle/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Indian Pines image contains a large amount of information because each pixel has information from 200 spectral bands.</a:t>
            </a:r>
          </a:p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Creating manual rules to identify all 17 classes would be difficult because different classes can have similar visual and spectral characteristics.</a:t>
            </a:r>
          </a:p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Deep Learning Helps By:</a:t>
            </a:r>
          </a:p>
          <a:p>
            <a:pPr lvl="1"/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Learning patterns directly from the available data </a:t>
            </a:r>
          </a:p>
          <a:p>
            <a:pPr lvl="1"/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Finding useful features automatically </a:t>
            </a:r>
          </a:p>
          <a:p>
            <a:pPr lvl="1"/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Using both image information and spectral information </a:t>
            </a:r>
          </a:p>
          <a:p>
            <a:pPr lvl="1"/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Making predictions for unseen image patches </a:t>
            </a:r>
          </a:p>
          <a:p>
            <a:pPr lvl="1"/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Reducing the need for manually designed rules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54777077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68E454F-E57D-A15C-46B5-ECF49E9E6A1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WHY U-NET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FC6BFB8-8ADD-915A-3C1D-77C2F26EDEA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948802"/>
          </a:xfrm>
        </p:spPr>
        <p:txBody>
          <a:bodyPr>
            <a:normAutofit/>
          </a:bodyPr>
          <a:lstStyle/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We need a model that can do two things:</a:t>
            </a:r>
          </a:p>
          <a:p>
            <a:pPr lvl="1">
              <a:buFont typeface="Courier New" panose="02070309020205020404" pitchFamily="49" charset="0"/>
              <a:buChar char="o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Understand what is present in the image </a:t>
            </a:r>
          </a:p>
          <a:p>
            <a:pPr lvl="1">
              <a:buFont typeface="Courier New" panose="02070309020205020404" pitchFamily="49" charset="0"/>
              <a:buChar char="o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Know exactly where those features are located </a:t>
            </a:r>
          </a:p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U-Net is well suited for this because it is designed specifically for pixel-level image segmentation.</a:t>
            </a:r>
          </a:p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Main Advantages of U-Net</a:t>
            </a:r>
          </a:p>
          <a:p>
            <a:pPr lvl="1">
              <a:buFont typeface="Courier New" panose="02070309020205020404" pitchFamily="49" charset="0"/>
              <a:buChar char="o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It can learn important features from the input image. </a:t>
            </a:r>
          </a:p>
          <a:p>
            <a:pPr lvl="1">
              <a:buFont typeface="Courier New" panose="02070309020205020404" pitchFamily="49" charset="0"/>
              <a:buChar char="o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It can preserve useful spatial information. </a:t>
            </a:r>
          </a:p>
          <a:p>
            <a:pPr lvl="1">
              <a:buFont typeface="Courier New" panose="02070309020205020404" pitchFamily="49" charset="0"/>
              <a:buChar char="o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It can produce a prediction for every pixel. </a:t>
            </a:r>
          </a:p>
          <a:p>
            <a:pPr lvl="1">
              <a:buFont typeface="Courier New" panose="02070309020205020404" pitchFamily="49" charset="0"/>
              <a:buChar char="o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It uses skip connections to retain fine details. </a:t>
            </a:r>
          </a:p>
          <a:p>
            <a:pPr lvl="1">
              <a:buFont typeface="Courier New" panose="02070309020205020404" pitchFamily="49" charset="0"/>
              <a:buChar char="o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It works well even when the amount of training data is limited.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20501378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77E9743-CF25-D509-CDD8-16CC308D6DE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HOW DOES U-NET WORK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36D2B94-4A52-AF98-B21A-7828FB4215D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850478"/>
          </a:xfrm>
        </p:spPr>
        <p:txBody>
          <a:bodyPr/>
          <a:lstStyle/>
          <a:p>
            <a:r>
              <a:rPr lang="en-IN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U-Net works in three main stages:</a:t>
            </a:r>
          </a:p>
          <a:p>
            <a:pPr marL="914400" lvl="1" indent="-457200">
              <a:buFont typeface="+mj-lt"/>
              <a:buAutoNum type="arabicPeriod"/>
            </a:pPr>
            <a:r>
              <a:rPr lang="en-I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Encoder — Understand the image </a:t>
            </a:r>
          </a:p>
          <a:p>
            <a:pPr marL="914400" lvl="1" indent="-457200">
              <a:buFont typeface="+mj-lt"/>
              <a:buAutoNum type="arabicPeriod"/>
            </a:pPr>
            <a:r>
              <a:rPr lang="en-I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Bottleneck — Capture important information </a:t>
            </a:r>
          </a:p>
          <a:p>
            <a:pPr marL="914400" lvl="1" indent="-457200">
              <a:buFont typeface="+mj-lt"/>
              <a:buAutoNum type="arabicPeriod"/>
            </a:pPr>
            <a:r>
              <a:rPr lang="en-I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Decoder — Create the segmentation map</a:t>
            </a:r>
          </a:p>
          <a:p>
            <a:pPr marL="457200" lvl="1" indent="0">
              <a:buNone/>
            </a:pPr>
            <a:endParaRPr lang="en-IN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input image first goes through the encoder, where the model learns useful patterns. The decoder then uses this information to produce the final pixel-by-pixel prediction.</a:t>
            </a:r>
          </a:p>
        </p:txBody>
      </p:sp>
    </p:spTree>
    <p:extLst>
      <p:ext uri="{BB962C8B-B14F-4D97-AF65-F5344CB8AC3E}">
        <p14:creationId xmlns:p14="http://schemas.microsoft.com/office/powerpoint/2010/main" val="193477955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112DC37-8D4F-4033-963D-C2A955DBF79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U-NET ARCHITECTURE</a:t>
            </a:r>
            <a:endParaRPr lang="en-IN" dirty="0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1E432A35-8860-3957-982E-4848E0606628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19865" y="1690688"/>
            <a:ext cx="9537290" cy="494608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059245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6960FFA-A7F1-79AB-6F65-7A12E5B72B3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U-NET ARCHITECTURE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A29AFE3-A2FE-2FE8-216C-343AC2F4934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5032376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U-Net has two main paths:</a:t>
            </a:r>
          </a:p>
          <a:p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Contracting Path — Encoder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>
              <a:buFont typeface="Courier New" panose="02070309020205020404" pitchFamily="49" charset="0"/>
              <a:buChar char="o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left side of the network. </a:t>
            </a:r>
          </a:p>
          <a:p>
            <a:pPr lvl="1">
              <a:buFont typeface="Courier New" panose="02070309020205020404" pitchFamily="49" charset="0"/>
              <a:buChar char="o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Gradually reduces the image size. </a:t>
            </a:r>
          </a:p>
          <a:p>
            <a:pPr lvl="1">
              <a:buFont typeface="Courier New" panose="02070309020205020404" pitchFamily="49" charset="0"/>
              <a:buChar char="o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Learns important patterns and features from the image. </a:t>
            </a:r>
          </a:p>
          <a:p>
            <a:pPr lvl="1">
              <a:buFont typeface="Courier New" panose="02070309020205020404" pitchFamily="49" charset="0"/>
              <a:buChar char="o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As the image becomes smaller, the network learns more complex information.</a:t>
            </a:r>
          </a:p>
          <a:p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Expanding Path — Decoder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>
              <a:buFont typeface="Courier New" panose="02070309020205020404" pitchFamily="49" charset="0"/>
              <a:buChar char="o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right side of the network. </a:t>
            </a:r>
          </a:p>
          <a:p>
            <a:pPr lvl="1">
              <a:buFont typeface="Courier New" panose="02070309020205020404" pitchFamily="49" charset="0"/>
              <a:buChar char="o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Gradually increases the image size again. </a:t>
            </a:r>
          </a:p>
          <a:p>
            <a:pPr lvl="1">
              <a:buFont typeface="Courier New" panose="02070309020205020404" pitchFamily="49" charset="0"/>
              <a:buChar char="o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Uses the learned features to create the segmentation result. </a:t>
            </a:r>
          </a:p>
          <a:p>
            <a:pPr lvl="1">
              <a:buFont typeface="Courier New" panose="02070309020205020404" pitchFamily="49" charset="0"/>
              <a:buChar char="o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Finally produces a class prediction for every pixel.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240294820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101D741-3A4B-78A9-4295-97C74B837FF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U-NET ARCHITECTURE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55860CA-392B-235B-68AB-1FAD23D5386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Skip Connections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>
              <a:buFont typeface="Courier New" panose="02070309020205020404" pitchFamily="49" charset="0"/>
              <a:buChar char="o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Connect the encoder to the decoder. </a:t>
            </a:r>
          </a:p>
          <a:p>
            <a:pPr lvl="1">
              <a:buFont typeface="Courier New" panose="02070309020205020404" pitchFamily="49" charset="0"/>
              <a:buChar char="o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Pass useful details directly from the encoder to the decoder. </a:t>
            </a:r>
          </a:p>
          <a:p>
            <a:pPr lvl="1">
              <a:buFont typeface="Courier New" panose="02070309020205020404" pitchFamily="49" charset="0"/>
              <a:buChar char="o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Help the network preserve the location and boundaries of objects.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320602737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C98C64F-31D0-3790-4060-EEC0ED32527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ENCODER: UNDERSTANDING THE IMAGE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14125E5-4642-7D07-6DEC-EACC2317E16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encoder is the left side of the U-Net architecture.</a:t>
            </a:r>
          </a:p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Its main job is to look at the input image and learn important features.</a:t>
            </a:r>
          </a:p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At the beginning, the network looks at simple information such as:</a:t>
            </a:r>
          </a:p>
          <a:p>
            <a:pPr lvl="1">
              <a:buFont typeface="Courier New" panose="02070309020205020404" pitchFamily="49" charset="0"/>
              <a:buChar char="o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Edges </a:t>
            </a:r>
          </a:p>
          <a:p>
            <a:pPr lvl="1">
              <a:buFont typeface="Courier New" panose="02070309020205020404" pitchFamily="49" charset="0"/>
              <a:buChar char="o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Patterns </a:t>
            </a:r>
          </a:p>
          <a:p>
            <a:pPr lvl="1">
              <a:buFont typeface="Courier New" panose="02070309020205020404" pitchFamily="49" charset="0"/>
              <a:buChar char="o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Textures </a:t>
            </a:r>
          </a:p>
          <a:p>
            <a:pPr lvl="1">
              <a:buFont typeface="Courier New" panose="02070309020205020404" pitchFamily="49" charset="0"/>
              <a:buChar char="o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Local variations </a:t>
            </a:r>
          </a:p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As we move deeper into the encoder, it learns more complex and meaningful features.</a:t>
            </a:r>
          </a:p>
          <a:p>
            <a:pPr marL="0" indent="0">
              <a:buNone/>
            </a:pP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577972733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FD8D9C9-BCB0-2E5F-F4A3-E401BD3F1E1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ENCODER: UNDERSTANDING THE IMAGE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54B87AA-1B16-AFC2-C1B1-A55EE4A3BFB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encoder repeatedly applies:</a:t>
            </a:r>
          </a:p>
          <a:p>
            <a:pPr lvl="1">
              <a:buFont typeface="Courier New" panose="02070309020205020404" pitchFamily="49" charset="0"/>
              <a:buChar char="o"/>
            </a:pPr>
            <a:r>
              <a:rPr lang="en-IN" sz="1800" dirty="0"/>
              <a:t>Convolution → Batch Normalization → </a:t>
            </a:r>
            <a:r>
              <a:rPr lang="en-IN" sz="1800" dirty="0" err="1"/>
              <a:t>ReLU</a:t>
            </a:r>
            <a:r>
              <a:rPr lang="en-IN" sz="1800" dirty="0"/>
              <a:t> → Convolution → </a:t>
            </a:r>
            <a:r>
              <a:rPr lang="en-IN" sz="1800" dirty="0" err="1"/>
              <a:t>BatchNormalization</a:t>
            </a:r>
            <a:r>
              <a:rPr lang="en-IN" sz="1800" dirty="0"/>
              <a:t> → </a:t>
            </a:r>
            <a:r>
              <a:rPr lang="en-IN" sz="1800" dirty="0" err="1"/>
              <a:t>ReLU</a:t>
            </a:r>
            <a:r>
              <a:rPr lang="en-IN" sz="1800" dirty="0"/>
              <a:t> → Max Pooling</a:t>
            </a:r>
          </a:p>
          <a:p>
            <a:pPr marL="228600" lvl="1">
              <a:spcBef>
                <a:spcPts val="1000"/>
              </a:spcBef>
            </a:pPr>
            <a:r>
              <a:rPr lang="en-I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pooling operation reduces the spatial size of the feature maps.</a:t>
            </a:r>
          </a:p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At the same time, the network can learn increasingly complex features.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360418476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6F3B481-F811-439D-BBBE-26E962111F9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ENCODER: UNDERSTANDING THE IMAGE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EB8A45A-796A-6AAF-ED13-E8134203E0A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514350" indent="-514350">
              <a:buFont typeface="+mj-lt"/>
              <a:buAutoNum type="arabicPeriod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Convolution</a:t>
            </a:r>
          </a:p>
          <a:p>
            <a:pPr lvl="1">
              <a:buFont typeface="Courier New" panose="02070309020205020404" pitchFamily="49" charset="0"/>
              <a:buChar char="o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convolution layer looks at small regions of the input and detects useful patterns.</a:t>
            </a:r>
          </a:p>
          <a:p>
            <a:pPr lvl="1">
              <a:buFont typeface="Courier New" panose="02070309020205020404" pitchFamily="49" charset="0"/>
              <a:buChar char="o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At the beginning, these can be simple patterns such as:</a:t>
            </a:r>
          </a:p>
          <a:p>
            <a:pPr marL="1371600" lvl="2" indent="-457200">
              <a:buFont typeface="+mj-lt"/>
              <a:buAutoNum type="arabicPeriod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Edges </a:t>
            </a:r>
          </a:p>
          <a:p>
            <a:pPr marL="1371600" lvl="2" indent="-457200">
              <a:buFont typeface="+mj-lt"/>
              <a:buAutoNum type="arabicPeriod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Lines </a:t>
            </a:r>
          </a:p>
          <a:p>
            <a:pPr marL="1371600" lvl="2" indent="-457200">
              <a:buFont typeface="+mj-lt"/>
              <a:buAutoNum type="arabicPeriod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Textures </a:t>
            </a:r>
          </a:p>
          <a:p>
            <a:pPr marL="1371600" lvl="2" indent="-457200">
              <a:buFont typeface="+mj-lt"/>
              <a:buAutoNum type="arabicPeriod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Small shapes </a:t>
            </a:r>
          </a:p>
          <a:p>
            <a:pPr lvl="1">
              <a:buFont typeface="Courier New" panose="02070309020205020404" pitchFamily="49" charset="0"/>
              <a:buChar char="o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As we go deeper into the network, the convolution layers learn more complex patterns.</a:t>
            </a:r>
          </a:p>
          <a:p>
            <a:pPr marL="514350" indent="-514350">
              <a:buFont typeface="+mj-lt"/>
              <a:buAutoNum type="arabicPeriod"/>
            </a:pP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800249524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50DE0F7-2106-BEBD-DB24-0F913B1B5A1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ENCODER: UNDERSTANDING THE IMAGE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B67F6EF-37C9-2540-F0DB-759C8F901E5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55121"/>
            <a:ext cx="10515600" cy="4351338"/>
          </a:xfrm>
        </p:spPr>
        <p:txBody>
          <a:bodyPr>
            <a:normAutofit/>
          </a:bodyPr>
          <a:lstStyle/>
          <a:p>
            <a:pPr marL="514350" indent="-514350">
              <a:buFont typeface="+mj-lt"/>
              <a:buAutoNum type="arabicPeriod" startAt="2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Batch Normalization</a:t>
            </a:r>
          </a:p>
          <a:p>
            <a:pPr lvl="1">
              <a:buFont typeface="Courier New" panose="02070309020205020404" pitchFamily="49" charset="0"/>
              <a:buChar char="o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After convolution, </a:t>
            </a: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Batch Normalization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is applied.</a:t>
            </a:r>
          </a:p>
          <a:p>
            <a:pPr lvl="1">
              <a:buFont typeface="Courier New" panose="02070309020205020404" pitchFamily="49" charset="0"/>
              <a:buChar char="o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Its purpose is to keep the values flowing through the network more stable, which helps the model train effectively</a:t>
            </a:r>
            <a:r>
              <a:rPr lang="en-IN" dirty="0"/>
              <a:t>.</a:t>
            </a:r>
          </a:p>
          <a:p>
            <a:pPr marL="514350" indent="-514350">
              <a:buFont typeface="+mj-lt"/>
              <a:buAutoNum type="arabicPeriod" startAt="2"/>
            </a:pPr>
            <a:r>
              <a:rPr lang="en-IN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ReLU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Activation</a:t>
            </a:r>
          </a:p>
          <a:p>
            <a:pPr lvl="1">
              <a:buFont typeface="Courier New" panose="02070309020205020404" pitchFamily="49" charset="0"/>
              <a:buChar char="o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Next, the </a:t>
            </a:r>
            <a:r>
              <a:rPr lang="en-IN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ReLU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activation function is applied.</a:t>
            </a:r>
          </a:p>
          <a:p>
            <a:pPr lvl="1">
              <a:buFont typeface="Courier New" panose="02070309020205020404" pitchFamily="49" charset="0"/>
              <a:buChar char="o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It introduces non-linearity into the network, allowing the model to learn complex relationships rather than only simple linear patterns.`</a:t>
            </a:r>
          </a:p>
        </p:txBody>
      </p:sp>
    </p:spTree>
    <p:extLst>
      <p:ext uri="{BB962C8B-B14F-4D97-AF65-F5344CB8AC3E}">
        <p14:creationId xmlns:p14="http://schemas.microsoft.com/office/powerpoint/2010/main" val="729041528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ACB1491-6C5B-06FD-AF97-D615675EE79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ENCODER: UNDERSTANDING THE IMAGE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471F2D3-F68E-597F-0FCC-D346DF1F3C6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514350" indent="-514350">
              <a:buFont typeface="+mj-lt"/>
              <a:buAutoNum type="arabicPeriod" startAt="4"/>
            </a:pP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Second Convolution Block</a:t>
            </a:r>
          </a:p>
          <a:p>
            <a:pPr lvl="1">
              <a:buFont typeface="Courier New" panose="02070309020205020404" pitchFamily="49" charset="0"/>
              <a:buChar char="o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second convolution extracts additional features from the information produced by the first convolution.</a:t>
            </a:r>
          </a:p>
          <a:p>
            <a:pPr marL="514350" indent="-514350">
              <a:buFont typeface="+mj-lt"/>
              <a:buAutoNum type="arabicPeriod" startAt="4"/>
            </a:pP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Max Pooling</a:t>
            </a:r>
          </a:p>
          <a:p>
            <a:pPr lvl="1"/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Finally, Max Pooling reduces the spatial size of the feature map.</a:t>
            </a:r>
          </a:p>
          <a:p>
            <a:pPr marL="514350" indent="-514350">
              <a:buFont typeface="+mj-lt"/>
              <a:buAutoNum type="arabicPeriod"/>
            </a:pP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594015521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091CBA6-EF8D-0A99-D38E-D08C5DEF773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BOTTLENECK: THE DEEPEST PART OF U-NET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436DC7A-8E52-06F4-BFCA-071693C89A7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840646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What is the Bottleneck?</a:t>
            </a:r>
          </a:p>
          <a:p>
            <a:pPr lvl="1"/>
            <a:r>
              <a:rPr lang="en-I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</a:t>
            </a:r>
            <a:r>
              <a:rPr lang="en-IN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bottleneck</a:t>
            </a:r>
            <a:r>
              <a:rPr lang="en-I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is the deepest part of the U-Net, located between the encoder and decoder.</a:t>
            </a:r>
          </a:p>
          <a:p>
            <a:pPr lvl="1"/>
            <a:r>
              <a:rPr lang="en-I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By the time the input reaches this stage:</a:t>
            </a:r>
          </a:p>
          <a:p>
            <a:pPr lvl="2">
              <a:buFont typeface="Courier New" panose="02070309020205020404" pitchFamily="49" charset="0"/>
              <a:buChar char="o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spatial dimensions have been reduced. </a:t>
            </a:r>
          </a:p>
          <a:p>
            <a:pPr lvl="2">
              <a:buFont typeface="Courier New" panose="02070309020205020404" pitchFamily="49" charset="0"/>
              <a:buChar char="o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network has extracted important features from the image. </a:t>
            </a:r>
          </a:p>
          <a:p>
            <a:pPr lvl="2">
              <a:buFont typeface="Courier New" panose="02070309020205020404" pitchFamily="49" charset="0"/>
              <a:buChar char="o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feature representation contains more high-level information. </a:t>
            </a:r>
          </a:p>
          <a:p>
            <a:pPr lvl="1"/>
            <a:r>
              <a:rPr lang="en-I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 our implementation, the encoder reduces the spatial representation to approximately: 128 × 8 × 8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975381410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8AA24A1-A1FD-E73A-E59B-D7458414824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DECODER: RECONSTRUCTING THE SEGMENTATION MAP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9959C75-F96A-3113-0349-38E75AF7654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938970"/>
          </a:xfrm>
        </p:spPr>
        <p:txBody>
          <a:bodyPr/>
          <a:lstStyle/>
          <a:p>
            <a:pPr marL="0" indent="0">
              <a:buNone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What Does the Decoder Do?</a:t>
            </a:r>
          </a:p>
          <a:p>
            <a:pPr lvl="1"/>
            <a:r>
              <a:rPr lang="en-I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decoder is the right side of the U-Net.</a:t>
            </a:r>
          </a:p>
          <a:p>
            <a:pPr lvl="1"/>
            <a:r>
              <a:rPr lang="en-I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Its main job is to take the compact features learned by the encoder and gradually restore the spatial dimensions to produce the final segmentation map.</a:t>
            </a:r>
          </a:p>
          <a:p>
            <a:pPr marL="0" lvl="1" indent="0">
              <a:spcBef>
                <a:spcPts val="1000"/>
              </a:spcBef>
              <a:buNone/>
            </a:pPr>
            <a:r>
              <a:rPr lang="en-I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How Does It Work?</a:t>
            </a:r>
          </a:p>
          <a:p>
            <a:pPr lvl="1"/>
            <a:r>
              <a:rPr lang="en-I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decoder mainly performs:</a:t>
            </a:r>
          </a:p>
          <a:p>
            <a:pPr marL="914400" lvl="2" indent="0">
              <a:buNone/>
            </a:pPr>
            <a:r>
              <a:rPr lang="en-IN" sz="24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Upsampling</a:t>
            </a:r>
            <a:r>
              <a:rPr lang="en-I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→ Feature Combination → Convolution → Feature Refinement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18377850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6BD1DF5-A808-2C54-29F0-CE7EECC8FCC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SKIP CONNECTIONS: PRESERVING IMPORTANT DETAILS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73D60F4-AC79-A077-B449-A25BE1D0812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99367"/>
            <a:ext cx="10515600" cy="4958633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Why Are Skip Connections Needed?</a:t>
            </a:r>
          </a:p>
          <a:p>
            <a:pPr lvl="1"/>
            <a:r>
              <a:rPr lang="en-I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When the encoder reduces the image size using pooling, some fine spatial details can be lost.</a:t>
            </a:r>
          </a:p>
          <a:p>
            <a:pPr lvl="1"/>
            <a:r>
              <a:rPr lang="en-I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For segmentation, these details are important because the model needs to know exactly where each class is located.</a:t>
            </a:r>
          </a:p>
          <a:p>
            <a:pPr lvl="1"/>
            <a:r>
              <a:rPr lang="en-I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U-Net solves this using skip connections</a:t>
            </a:r>
            <a:r>
              <a:rPr lang="en-IN" sz="2800" dirty="0"/>
              <a:t>.</a:t>
            </a:r>
          </a:p>
          <a:p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How They Work</a:t>
            </a:r>
          </a:p>
          <a:p>
            <a:pPr lvl="1"/>
            <a:r>
              <a:rPr lang="en-I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Skip connections directly transfer feature information from the encoder to the corresponding stage of the decoder.</a:t>
            </a:r>
          </a:p>
          <a:p>
            <a:pPr lvl="1"/>
            <a:r>
              <a:rPr lang="en-I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decoder combines:</a:t>
            </a:r>
          </a:p>
          <a:p>
            <a:pPr marL="914400" lvl="2" indent="0">
              <a:buNone/>
            </a:pPr>
            <a:r>
              <a:rPr lang="en-I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Information from the encoder + Information from the decode</a:t>
            </a:r>
            <a:endParaRPr lang="en-IN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610927237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755A6BB-1595-CA1E-8AF4-8AD1E6A3B94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PREPARING THE IMAGE FOR U-NET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1907CE3-AFDF-F989-DE5D-E4FC40C92B5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690688"/>
            <a:ext cx="10515600" cy="5273265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From Original Image to U-Net Input</a:t>
            </a:r>
          </a:p>
          <a:p>
            <a:pPr lvl="1"/>
            <a:r>
              <a:rPr lang="en-IN" sz="2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Our original hyperspectral image is too large to directly use as a single small input to the U-Net.</a:t>
            </a:r>
          </a:p>
          <a:p>
            <a:pPr lvl="1"/>
            <a:r>
              <a:rPr lang="en-IN" sz="2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Therefore, we divide the image into smaller </a:t>
            </a:r>
            <a:r>
              <a:rPr lang="en-IN" sz="25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32 × 32 patches</a:t>
            </a:r>
            <a:r>
              <a:rPr lang="en-IN" sz="2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marL="0" indent="0">
              <a:buNone/>
            </a:pP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Why Do We Use Patches?</a:t>
            </a:r>
          </a:p>
          <a:p>
            <a:pPr lvl="1">
              <a:lnSpc>
                <a:spcPct val="100000"/>
              </a:lnSpc>
            </a:pPr>
            <a:r>
              <a:rPr lang="en-IN" sz="2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Using smaller patches makes the data easier for the model to process and allows the model to learn from different regions of the image.</a:t>
            </a:r>
          </a:p>
          <a:p>
            <a:pPr lvl="1">
              <a:lnSpc>
                <a:spcPct val="100000"/>
              </a:lnSpc>
            </a:pPr>
            <a:r>
              <a:rPr lang="en-IN" sz="2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Each patch contains:</a:t>
            </a:r>
          </a:p>
          <a:p>
            <a:pPr lvl="2"/>
            <a:r>
              <a:rPr lang="en-I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200 spectral bands</a:t>
            </a: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  <a:p>
            <a:pPr lvl="2"/>
            <a:r>
              <a:rPr lang="en-I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32 × 32 spatial pixels</a:t>
            </a: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  <a:p>
            <a:pPr lvl="1"/>
            <a:r>
              <a:rPr lang="en-IN" sz="2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corresponding ground-truth patch has</a:t>
            </a:r>
            <a:r>
              <a:rPr lang="en-I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</a:p>
          <a:p>
            <a:pPr lvl="2">
              <a:lnSpc>
                <a:spcPct val="100000"/>
              </a:lnSpc>
            </a:pPr>
            <a:r>
              <a:rPr lang="en-I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32 × 32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849461350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A02A939-E9B5-F461-3F4F-7A228FEA8AB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PREPARING THE IMAGE FOR U-NET</a:t>
            </a:r>
            <a:endParaRPr lang="en-IN" dirty="0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40BC6721-2B7E-F235-C82C-A45B719EE005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8200" y="2806713"/>
            <a:ext cx="10515600" cy="23891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63520486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2DC5016-7D50-7593-AD73-6B547A50157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TRAINING, VALIDATION AND TESTING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77FF2D8-D79F-CC0E-5A2F-3DFDB35621A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How Do We Train and Evaluate the Model?</a:t>
            </a:r>
          </a:p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After dividing the image into 25 patches, we separate them into three groups.</a:t>
            </a:r>
          </a:p>
          <a:p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aphicFrame>
        <p:nvGraphicFramePr>
          <p:cNvPr id="8" name="Table 7">
            <a:extLst>
              <a:ext uri="{FF2B5EF4-FFF2-40B4-BE49-F238E27FC236}">
                <a16:creationId xmlns:a16="http://schemas.microsoft.com/office/drawing/2014/main" id="{31CD5E24-E75E-294D-3057-9A2E1C3B285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724869741"/>
              </p:ext>
            </p:extLst>
          </p:nvPr>
        </p:nvGraphicFramePr>
        <p:xfrm>
          <a:off x="838200" y="3352365"/>
          <a:ext cx="10515600" cy="1828800"/>
        </p:xfrm>
        <a:graphic>
          <a:graphicData uri="http://schemas.openxmlformats.org/drawingml/2006/table">
            <a:tbl>
              <a:tblPr>
                <a:tableStyleId>{073A0DAA-6AF3-43AB-8588-CEC1D06C72B9}</a:tableStyleId>
              </a:tblPr>
              <a:tblGrid>
                <a:gridCol w="5257800">
                  <a:extLst>
                    <a:ext uri="{9D8B030D-6E8A-4147-A177-3AD203B41FA5}">
                      <a16:colId xmlns:a16="http://schemas.microsoft.com/office/drawing/2014/main" val="570537680"/>
                    </a:ext>
                  </a:extLst>
                </a:gridCol>
                <a:gridCol w="5257800">
                  <a:extLst>
                    <a:ext uri="{9D8B030D-6E8A-4147-A177-3AD203B41FA5}">
                      <a16:colId xmlns:a16="http://schemas.microsoft.com/office/drawing/2014/main" val="354318923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/>
                        <a:t>Purpose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IN" dirty="0"/>
                        <a:t>Patches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13905550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/>
                        <a:t>Training Dataset 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IN"/>
                        <a:t>17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58338590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/>
                        <a:t>Validation Dataset 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IN" dirty="0"/>
                        <a:t>4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30698040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/>
                        <a:t>Testing Dataset 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IN"/>
                        <a:t>4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31370320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Total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IN" dirty="0"/>
                        <a:t>25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68096595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866932938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C033627-EB72-A3DA-C3F1-5BEDC2F6B43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TRAINING, VALIDATION AND TESTING</a:t>
            </a:r>
            <a:endParaRPr lang="en-IN" dirty="0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462004BF-5D4D-E149-FE50-C2675A055B21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8200" y="2166440"/>
            <a:ext cx="10515600" cy="14082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63922745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44CA2C8-896E-B633-05CF-5846CC2349F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TRAINING PROCESS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46DA205-F2DF-1448-9F67-9796A8CAEAD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U-Net learns by comparing its prediction with the correct ground-truth mask.</a:t>
            </a:r>
          </a:p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process is repeated for many training cycles called </a:t>
            </a: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epochs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991272165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4FC926C-AECF-EA11-0BA8-C8A6917B57B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TRAINING PROCESS</a:t>
            </a:r>
            <a:endParaRPr lang="en-IN" dirty="0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12CF815A-F15C-634C-0A0C-C464547C9DBD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094271" y="1435510"/>
            <a:ext cx="8613057" cy="516193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086498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3B9576A-14FC-77AA-C5ED-BA40E24545A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TRAINING PROCESS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1405BF5-41E8-EEAD-9F30-C0F2D905165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5032376"/>
          </a:xfrm>
        </p:spPr>
        <p:txBody>
          <a:bodyPr>
            <a:normAutofit fontScale="92500" lnSpcReduction="10000"/>
          </a:bodyPr>
          <a:lstStyle/>
          <a:p>
            <a:pPr marL="0" indent="0">
              <a:buNone/>
            </a:pP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What Happens During Training?</a:t>
            </a:r>
          </a:p>
          <a:p>
            <a:pPr marL="514350" indent="-514350">
              <a:buFont typeface="+mj-lt"/>
              <a:buAutoNum type="arabicPeriod"/>
            </a:pP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Input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/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A training patch of size: 200 × 32 × 32 is given to the U-Net.</a:t>
            </a:r>
          </a:p>
          <a:p>
            <a:pPr marL="514350" indent="-514350">
              <a:buFont typeface="+mj-lt"/>
              <a:buAutoNum type="arabicPeriod"/>
            </a:pP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Prediction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/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U-Net predicts a class for every pixel.</a:t>
            </a:r>
          </a:p>
          <a:p>
            <a:pPr marL="514350" indent="-514350">
              <a:buFont typeface="+mj-lt"/>
              <a:buAutoNum type="arabicPeriod"/>
            </a:pP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Comparison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/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prediction is compared with the correct ground-truth mask.</a:t>
            </a:r>
          </a:p>
          <a:p>
            <a:pPr marL="514350" indent="-514350">
              <a:buFont typeface="+mj-lt"/>
              <a:buAutoNum type="arabicPeriod"/>
            </a:pP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Loss Calculation</a:t>
            </a:r>
          </a:p>
          <a:p>
            <a:pPr lvl="1"/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difference between the prediction and the correct answer is measured using a </a:t>
            </a: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loss function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marL="514350" indent="-514350">
              <a:buFont typeface="+mj-lt"/>
              <a:buAutoNum type="arabicPeriod"/>
            </a:pP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Model Update</a:t>
            </a:r>
          </a:p>
          <a:p>
            <a:pPr lvl="1"/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model adjusts its internal parameters so that its future predictions can become better.</a:t>
            </a:r>
          </a:p>
          <a:p>
            <a:pPr lvl="1"/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164115687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798985F-A93A-64AD-B7C6-32547E55BCC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TRAINING RESULTS</a:t>
            </a:r>
          </a:p>
        </p:txBody>
      </p:sp>
      <p:pic>
        <p:nvPicPr>
          <p:cNvPr id="15" name="Content Placeholder 14">
            <a:extLst>
              <a:ext uri="{FF2B5EF4-FFF2-40B4-BE49-F238E27FC236}">
                <a16:creationId xmlns:a16="http://schemas.microsoft.com/office/drawing/2014/main" id="{B27EC54B-7CBE-5E79-68E8-AA8860F7F07C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07114" y="1690688"/>
            <a:ext cx="10146686" cy="45059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21388260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B35EF2E-20DA-4D47-3B48-6D6D33466A7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TRAINING RESULTS</a:t>
            </a:r>
            <a:endParaRPr lang="en-IN" dirty="0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4D0E82A9-8016-0E16-70E9-120D2AD13E80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13770" y="1690688"/>
            <a:ext cx="10240030" cy="44862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38570336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2F1F21F-586E-E27D-5C64-B525185ED2F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VALIDATION AND PREDICTION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9E3C8BB-6AED-272C-7AB2-B06B764AE66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How Does the Trained Model Perform on Unseen Data?</a:t>
            </a:r>
          </a:p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After training, we test the model on image patches that were </a:t>
            </a: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not used to train the model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For validation, the model compares its predicted mask with the actual ground-truth mask.</a:t>
            </a:r>
          </a:p>
          <a:p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23054251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E1A97BB-E492-A114-25E0-0BA11B7C8DD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VALIDATION RESULT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87DFAFEE-8E7D-19EA-F777-058308EDC286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29906" y="1690688"/>
            <a:ext cx="10123894" cy="443480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74016939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BF3F3FF-BB3D-FA0B-E612-034C7F5D97C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TESTING RESULTS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8819F96-DE15-A284-0308-923EB5C1E91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35458"/>
            <a:ext cx="10515600" cy="4351338"/>
          </a:xfrm>
        </p:spPr>
        <p:txBody>
          <a:bodyPr/>
          <a:lstStyle/>
          <a:p>
            <a:pPr marL="0" indent="0">
              <a:buNone/>
            </a:pP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Final Evaluation on Unseen Data</a:t>
            </a:r>
          </a:p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After training and validation, the model is evaluated on the </a:t>
            </a: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4 test patches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that were kept separate from the training process.</a:t>
            </a:r>
          </a:p>
          <a:p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848654318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214A6B8-DE5E-39F7-FE38-4DAD8D4424C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TESTING RESULTS</a:t>
            </a:r>
            <a:endParaRPr lang="en-IN" dirty="0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40757210-A542-8111-8C75-C33BDCA3E902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06013" y="1602658"/>
            <a:ext cx="9684774" cy="489021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23153838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41E5BA4-482A-8DF5-9F0C-B2F82BF77CB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FULL IMAGE RECONSTRUCTION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52EC947-CE3E-E2DC-4AB6-BF189352A76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Reconstructing the Complete Segmentation Map</a:t>
            </a:r>
          </a:p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Until now, the U-Net has been working with individual </a:t>
            </a: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32 × 32 patches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 obtain the segmentation result for the complete image, we combine the predictions from all </a:t>
            </a: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25 patches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and place them back in their original positions.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109503252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E338797-BF31-706D-8AF6-A0F9C371965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FULL IMAGE RECONSTRUCTION RESULT</a:t>
            </a:r>
            <a:endParaRPr lang="en-IN" dirty="0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CF7A39EC-06A5-06A2-3202-2C7591B345AB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48697" y="1690688"/>
            <a:ext cx="10105103" cy="480218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19218545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977B337-9CA7-30DC-9606-D4F328FABE4C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IN" cap="none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THANK YOU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4B063956-5429-6917-C013-C84597C840E1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>
            <a:normAutofit lnSpcReduction="10000"/>
          </a:bodyPr>
          <a:lstStyle/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Questions &amp; Discussion</a:t>
            </a:r>
          </a:p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U-Net for Image Segmentation used items are :-</a:t>
            </a:r>
          </a:p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	Indian Pines Hyperspectral Dataset</a:t>
            </a:r>
          </a:p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	Python • </a:t>
            </a:r>
            <a:r>
              <a:rPr lang="en-IN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PyTorch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• </a:t>
            </a:r>
            <a:r>
              <a:rPr lang="en-IN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Streamlit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796210602"/>
      </p:ext>
    </p:extLst>
  </p:cSld>
  <p:clrMapOvr>
    <a:masterClrMapping/>
  </p:clrMapOvr>
</p:sld>
</file>

<file path=ppt/theme/theme1.xml><?xml version="1.0" encoding="utf-8"?>
<a:theme xmlns:a="http://schemas.openxmlformats.org/drawingml/2006/main" name="GradientVTI">
  <a:themeElements>
    <a:clrScheme name="Gradient">
      <a:dk1>
        <a:sysClr val="windowText" lastClr="000000"/>
      </a:dk1>
      <a:lt1>
        <a:sysClr val="window" lastClr="FFFFFF"/>
      </a:lt1>
      <a:dk2>
        <a:srgbClr val="10013F"/>
      </a:dk2>
      <a:lt2>
        <a:srgbClr val="F2F0FF"/>
      </a:lt2>
      <a:accent1>
        <a:srgbClr val="814DFF"/>
      </a:accent1>
      <a:accent2>
        <a:srgbClr val="243FFF"/>
      </a:accent2>
      <a:accent3>
        <a:srgbClr val="FF83B6"/>
      </a:accent3>
      <a:accent4>
        <a:srgbClr val="FF9022"/>
      </a:accent4>
      <a:accent5>
        <a:srgbClr val="FF1F85"/>
      </a:accent5>
      <a:accent6>
        <a:srgbClr val="1A98FF"/>
      </a:accent6>
      <a:hlink>
        <a:srgbClr val="0563C1"/>
      </a:hlink>
      <a:folHlink>
        <a:srgbClr val="954F72"/>
      </a:folHlink>
    </a:clrScheme>
    <a:fontScheme name="Univers">
      <a:majorFont>
        <a:latin typeface="Univers"/>
        <a:ea typeface=""/>
        <a:cs typeface=""/>
      </a:majorFont>
      <a:minorFont>
        <a:latin typeface="Univers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GradientVTI" id="{605F9078-86F9-4258-A3E1-F8EFF02AE8CC}" vid="{4848699B-BB01-41E3-9EC4-3D97DFE5292B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Gradient</Template>
  <TotalTime>156</TotalTime>
  <Words>1641</Words>
  <Application>Microsoft Office PowerPoint</Application>
  <PresentationFormat>Widescreen</PresentationFormat>
  <Paragraphs>200</Paragraphs>
  <Slides>38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38</vt:i4>
      </vt:variant>
    </vt:vector>
  </HeadingPairs>
  <TitlesOfParts>
    <vt:vector size="44" baseType="lpstr">
      <vt:lpstr>Aptos</vt:lpstr>
      <vt:lpstr>Arial</vt:lpstr>
      <vt:lpstr>Courier New</vt:lpstr>
      <vt:lpstr>Times New Roman</vt:lpstr>
      <vt:lpstr>Univers</vt:lpstr>
      <vt:lpstr>GradientVTI</vt:lpstr>
      <vt:lpstr>Image Segmentation using u-Net</vt:lpstr>
      <vt:lpstr>INTRODUCTION</vt:lpstr>
      <vt:lpstr>INDIAN PINES HYPERSPECTRAL DATASET</vt:lpstr>
      <vt:lpstr>INDIAN PINES HYPERSPECTRAL DATASET</vt:lpstr>
      <vt:lpstr>OUR DATASET</vt:lpstr>
      <vt:lpstr>OUR DATASET</vt:lpstr>
      <vt:lpstr>PROBLEM STATEMENT</vt:lpstr>
      <vt:lpstr>UNDERSTANDING IMAGE SEGMENTATION</vt:lpstr>
      <vt:lpstr>WHY DO WE NEED DEEP LEARNING</vt:lpstr>
      <vt:lpstr>WHY U-NET</vt:lpstr>
      <vt:lpstr>HOW DOES U-NET WORK</vt:lpstr>
      <vt:lpstr>U-NET ARCHITECTURE</vt:lpstr>
      <vt:lpstr>U-NET ARCHITECTURE</vt:lpstr>
      <vt:lpstr>U-NET ARCHITECTURE</vt:lpstr>
      <vt:lpstr>ENCODER: UNDERSTANDING THE IMAGE</vt:lpstr>
      <vt:lpstr>ENCODER: UNDERSTANDING THE IMAGE</vt:lpstr>
      <vt:lpstr>ENCODER: UNDERSTANDING THE IMAGE</vt:lpstr>
      <vt:lpstr>ENCODER: UNDERSTANDING THE IMAGE</vt:lpstr>
      <vt:lpstr>ENCODER: UNDERSTANDING THE IMAGE</vt:lpstr>
      <vt:lpstr>BOTTLENECK: THE DEEPEST PART OF U-NET</vt:lpstr>
      <vt:lpstr>DECODER: RECONSTRUCTING THE SEGMENTATION MAP</vt:lpstr>
      <vt:lpstr>SKIP CONNECTIONS: PRESERVING IMPORTANT DETAILS</vt:lpstr>
      <vt:lpstr>PREPARING THE IMAGE FOR U-NET</vt:lpstr>
      <vt:lpstr>PREPARING THE IMAGE FOR U-NET</vt:lpstr>
      <vt:lpstr>TRAINING, VALIDATION AND TESTING</vt:lpstr>
      <vt:lpstr>TRAINING, VALIDATION AND TESTING</vt:lpstr>
      <vt:lpstr>TRAINING PROCESS</vt:lpstr>
      <vt:lpstr>TRAINING PROCESS</vt:lpstr>
      <vt:lpstr>TRAINING PROCESS</vt:lpstr>
      <vt:lpstr>TRAINING RESULTS</vt:lpstr>
      <vt:lpstr>TRAINING RESULTS</vt:lpstr>
      <vt:lpstr>VALIDATION AND PREDICTION</vt:lpstr>
      <vt:lpstr>VALIDATION RESULT</vt:lpstr>
      <vt:lpstr>TESTING RESULTS</vt:lpstr>
      <vt:lpstr>TESTING RESULTS</vt:lpstr>
      <vt:lpstr>FULL IMAGE RECONSTRUCTION</vt:lpstr>
      <vt:lpstr>FULL IMAGE RECONSTRUCTION RESULT</vt:lpstr>
      <vt:lpstr>THANK YOU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vishva patel</dc:creator>
  <cp:lastModifiedBy>vishva patel</cp:lastModifiedBy>
  <cp:revision>1</cp:revision>
  <dcterms:created xsi:type="dcterms:W3CDTF">2026-08-25T17:24:18Z</dcterms:created>
  <dcterms:modified xsi:type="dcterms:W3CDTF">2026-08-25T20:00:21Z</dcterms:modified>
</cp:coreProperties>
</file>